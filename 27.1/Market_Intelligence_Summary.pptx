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1E63"/>
    <a:srgbClr val="4CAF50"/>
    <a:srgbClr val="2196F3"/>
    <a:srgbClr val="FFC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AB36-F0D9-6A64-A6C6-6CF3BBFFF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1AAD6-F71C-7FAC-0FBB-75C58EEB7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1DE1-BCB1-7F52-7DC6-144B9091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D9B9-6BED-4EDE-0476-7C493AB6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7565-744F-143C-7D3A-F12BCE3A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DFDC-C5FA-A15E-0F40-817F240C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8D60F-C377-0EF1-E573-17ADB84D6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9B4E8-6506-8984-0EE6-652C3C90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3D020-3A19-FC3A-AD16-98CE67A7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F77C0-7BB0-67F9-EA8C-235F8380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5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121F-840E-8215-B270-4A0E8831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4E0D1-EA84-F120-325B-DEEE35CAF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DE02E-0C1C-69D7-211D-BE733B9A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2C875-05E5-9CE2-14A4-596639D9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431AA-A3AD-DC10-670F-57842354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4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78D7-941D-2726-54A9-D6458093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2724-689B-C640-6B3D-F0A2FB0FA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83F94-6484-4351-0FFA-DFDA7BE0C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0D5C2-D0E2-EF7E-B7F5-355565F3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652E2-9B0B-3542-435E-617F1382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353D7-E18E-A7CD-1188-446794A9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5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C926-B1C7-2CB5-A388-2E549164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7AF44-3DDB-9DD9-A63F-97BEA940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A06FA-90E6-6DEA-CA6A-DBC845A27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C1928-189E-94D0-DBFA-4603AAE55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53962-E4C2-6B3F-4A2B-849A9E50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C3CA82-62EA-7D3B-4ACA-28D741D5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0FDA0-8306-F2C1-AFE4-6B39F8A9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95A0B-FF38-4D62-0CD2-44F9EA97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65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3CA8-B8B2-6843-27ED-C99D2F35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BED16-B0C2-0CD5-7D24-81356DED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CA4BE-FEC9-5F4A-28FE-CE9E0003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7A8E6-8BE9-2B6B-1679-F2527D29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AB3E5-ACD1-31BC-05D3-F4257219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AC3E3-5E6E-8A18-666A-5E0EEA4B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44B1-2C72-63DC-3717-7D37A839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565E-4BDD-4997-0D6A-D5AA2F98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4C6E-8AE3-8EBC-A885-C7305D6C7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774B7-BE94-FB27-E365-7A5BB22E3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CA416-F08B-524B-1B66-36D77F4A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F67F1-D9EC-D4EE-9B3C-461B59C8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465D0-5B98-818C-EEB7-C91F56D4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44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22BE-CDD0-9BDC-CFBA-3EFB6DF2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21396F-C480-C017-6A25-8CDC4BDEC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C11A7-67C1-8701-D17E-E228FA376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68EDD-B5CB-40B0-4FB7-7E75BBB7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92E46-1723-3948-560F-70538C69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12DD3-0C62-7C26-E64E-7B02B6D5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2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F931-21F7-5423-9CFF-8F3180A9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EADC3-7D3C-40C2-7690-59BFE7613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EB0A-0F2A-F12B-B623-72A1AF01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789F-FF06-AEC6-4008-E4FAB406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AB8B6-26FC-6E83-E15E-6F37537B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06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86653-8C8A-2DE5-069E-3B7DD26F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C39BC-D7BE-C16E-9DD3-4813863D2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40FC-695F-E594-E4BB-2B8BBB3D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FACF8-C0CD-38D7-1025-CAEEAE08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D70C4-37BE-FE91-AD89-C6AE48D0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34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C2CE8-E355-DC05-E1C8-BB165BEB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4B835-D9D7-0886-B3F1-4D8ECEE82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D2789-3B22-8139-F8BA-A61EF00C9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2ECC0-89C8-4F70-B845-0DEBF20524A7}" type="datetimeFigureOut">
              <a:rPr lang="en-IN" smtClean="0"/>
              <a:t>02-10-2025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F1D7D-3C86-A58A-8FBB-5034714B8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98B2-023F-A927-0E1D-D883DFAD7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39349-6541-4FDB-B690-F278BD4C7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7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ightfold.ai/" TargetMode="External"/><Relationship Id="rId2" Type="http://schemas.openxmlformats.org/officeDocument/2006/relationships/hyperlink" Target="https://www.linkedin.com/products/linkedin-talent-insigh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ekout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5CDE-98DD-B57C-E47D-BF20EB060D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Market Intelligence 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48789-DB08-FB01-7569-26E220054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Hiring Heat-Map Project</a:t>
            </a:r>
          </a:p>
          <a:p>
            <a:endParaRPr lang="en-IN" dirty="0"/>
          </a:p>
          <a:p>
            <a:r>
              <a:rPr lang="en-IN" sz="1600" dirty="0"/>
              <a:t>30.09.2025</a:t>
            </a:r>
          </a:p>
          <a:p>
            <a:r>
              <a:rPr lang="en-IN" sz="1600" dirty="0"/>
              <a:t>Pavan - DA</a:t>
            </a:r>
          </a:p>
        </p:txBody>
      </p:sp>
    </p:spTree>
    <p:extLst>
      <p:ext uri="{BB962C8B-B14F-4D97-AF65-F5344CB8AC3E}">
        <p14:creationId xmlns:p14="http://schemas.microsoft.com/office/powerpoint/2010/main" val="137860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DF98-DFFC-3634-D6CE-6F1664EC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Sizing (TAM / SAM / SOM)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33AC949-74C3-D91D-29EF-113F182AA33E}"/>
              </a:ext>
            </a:extLst>
          </p:cNvPr>
          <p:cNvSpPr/>
          <p:nvPr/>
        </p:nvSpPr>
        <p:spPr>
          <a:xfrm>
            <a:off x="4610100" y="2560320"/>
            <a:ext cx="2971800" cy="2734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5BF25A-15D5-51EE-43E6-FF3C6A99F936}"/>
              </a:ext>
            </a:extLst>
          </p:cNvPr>
          <p:cNvSpPr/>
          <p:nvPr/>
        </p:nvSpPr>
        <p:spPr>
          <a:xfrm>
            <a:off x="5474208" y="3346704"/>
            <a:ext cx="1243584" cy="116128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723704-EAB1-0FA7-C346-B97E79E2C00F}"/>
              </a:ext>
            </a:extLst>
          </p:cNvPr>
          <p:cNvSpPr/>
          <p:nvPr/>
        </p:nvSpPr>
        <p:spPr>
          <a:xfrm>
            <a:off x="5862828" y="3707892"/>
            <a:ext cx="466344" cy="438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6F4A2-F89B-F812-EF8E-959904DA869A}"/>
              </a:ext>
            </a:extLst>
          </p:cNvPr>
          <p:cNvSpPr txBox="1"/>
          <p:nvPr/>
        </p:nvSpPr>
        <p:spPr>
          <a:xfrm>
            <a:off x="8668512" y="3742682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 ~13M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C477A-46A5-7F67-75E0-87F472F90F24}"/>
              </a:ext>
            </a:extLst>
          </p:cNvPr>
          <p:cNvSpPr txBox="1"/>
          <p:nvPr/>
        </p:nvSpPr>
        <p:spPr>
          <a:xfrm>
            <a:off x="2541880" y="3429000"/>
            <a:ext cx="1204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 ~1.3B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EF8F6D-58ED-B9AF-CC62-6698C6EFD17C}"/>
              </a:ext>
            </a:extLst>
          </p:cNvPr>
          <p:cNvSpPr txBox="1"/>
          <p:nvPr/>
        </p:nvSpPr>
        <p:spPr>
          <a:xfrm>
            <a:off x="8668512" y="2800850"/>
            <a:ext cx="1194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TAM ~8.6B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ED150A-0816-2C73-B5AE-AF5470C02C79}"/>
              </a:ext>
            </a:extLst>
          </p:cNvPr>
          <p:cNvCxnSpPr/>
          <p:nvPr/>
        </p:nvCxnSpPr>
        <p:spPr>
          <a:xfrm>
            <a:off x="6096000" y="3927348"/>
            <a:ext cx="24719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0E7650-88F9-0783-E1D4-4AD59D137554}"/>
              </a:ext>
            </a:extLst>
          </p:cNvPr>
          <p:cNvCxnSpPr>
            <a:endCxn id="10" idx="3"/>
          </p:cNvCxnSpPr>
          <p:nvPr/>
        </p:nvCxnSpPr>
        <p:spPr>
          <a:xfrm flipH="1">
            <a:off x="3745992" y="3613666"/>
            <a:ext cx="235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1B767A-9687-880B-B078-49FC7959B576}"/>
              </a:ext>
            </a:extLst>
          </p:cNvPr>
          <p:cNvCxnSpPr>
            <a:cxnSpLocks/>
          </p:cNvCxnSpPr>
          <p:nvPr/>
        </p:nvCxnSpPr>
        <p:spPr>
          <a:xfrm>
            <a:off x="6094476" y="2971800"/>
            <a:ext cx="24734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68B68D-F61D-E3CA-3BCC-A01DB76994E3}"/>
              </a:ext>
            </a:extLst>
          </p:cNvPr>
          <p:cNvSpPr txBox="1"/>
          <p:nvPr/>
        </p:nvSpPr>
        <p:spPr>
          <a:xfrm>
            <a:off x="3234013" y="5829466"/>
            <a:ext cx="5720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$8.6B market opportunity, with $13M obtainable in 3 years</a:t>
            </a: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76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241B-47BC-22A0-68AF-487E3F3D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Matrix</a:t>
            </a: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BC16BEC-CC6C-A82E-EB6E-85871C497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191719"/>
              </p:ext>
            </p:extLst>
          </p:nvPr>
        </p:nvGraphicFramePr>
        <p:xfrm>
          <a:off x="838200" y="2128879"/>
          <a:ext cx="10515603" cy="2552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6049185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659001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1156479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6635367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783222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223593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42834514"/>
                    </a:ext>
                  </a:extLst>
                </a:gridCol>
              </a:tblGrid>
              <a:tr h="508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Competitor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Real-time Hiring Data</a:t>
                      </a:r>
                    </a:p>
                  </a:txBody>
                  <a:tcPr marL="7620" marR="7620" marT="762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Skill Clustering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Talent Benchmarks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Dashboard/ Visualization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Predictive Insights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Link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67625"/>
                  </a:ext>
                </a:extLst>
              </a:tr>
              <a:tr h="6948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LinkedIn Talent Insights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2"/>
                        </a:rPr>
                        <a:t>https://www.linkedin.com/products/linkedin-talent-insights/</a:t>
                      </a:r>
                      <a:endParaRPr lang="en-IN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921425"/>
                  </a:ext>
                </a:extLst>
              </a:tr>
              <a:tr h="50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Eightfold.ai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https://eightfold.ai/</a:t>
                      </a:r>
                      <a:endParaRPr lang="en-IN" sz="16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433279"/>
                  </a:ext>
                </a:extLst>
              </a:tr>
              <a:tr h="508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SeekOut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https://www.seekout.com/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903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4249E76-2FFC-655B-2245-9D72AC76C83A}"/>
              </a:ext>
            </a:extLst>
          </p:cNvPr>
          <p:cNvSpPr txBox="1"/>
          <p:nvPr/>
        </p:nvSpPr>
        <p:spPr>
          <a:xfrm>
            <a:off x="2735016" y="5029200"/>
            <a:ext cx="672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Gap: Real-time hiring intelligence underdeveloped across competitors</a:t>
            </a: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9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C5FC-7245-B9F8-DE1C-42FB3173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Competitor Pricing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006C3-815E-D685-6077-39026922A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82022"/>
              </p:ext>
            </p:extLst>
          </p:nvPr>
        </p:nvGraphicFramePr>
        <p:xfrm>
          <a:off x="838200" y="2552700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596530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99534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00233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7397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68840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Competitor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Free Trial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Entry Price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Enterprise Price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Pricing Model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67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LinkedIn Talent Insights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License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Eightfold.ai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Subscription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5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SeekOut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Quote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Subscription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621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B48943-BF45-1A21-1030-E98F5E133972}"/>
              </a:ext>
            </a:extLst>
          </p:cNvPr>
          <p:cNvSpPr txBox="1"/>
          <p:nvPr/>
        </p:nvSpPr>
        <p:spPr>
          <a:xfrm>
            <a:off x="2847258" y="5167312"/>
            <a:ext cx="649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Competitor pricing opaque, most are enterprise subscription-based</a:t>
            </a: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95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5867-019E-6E43-35E1-1FCEDD3D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Position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B487D0-06EB-747B-C8D3-BE541AE6CD5E}"/>
              </a:ext>
            </a:extLst>
          </p:cNvPr>
          <p:cNvCxnSpPr>
            <a:cxnSpLocks/>
          </p:cNvCxnSpPr>
          <p:nvPr/>
        </p:nvCxnSpPr>
        <p:spPr>
          <a:xfrm>
            <a:off x="5986272" y="1690688"/>
            <a:ext cx="0" cy="4902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D41588-8131-6D14-23EB-9FF8863CB234}"/>
              </a:ext>
            </a:extLst>
          </p:cNvPr>
          <p:cNvCxnSpPr>
            <a:cxnSpLocks/>
          </p:cNvCxnSpPr>
          <p:nvPr/>
        </p:nvCxnSpPr>
        <p:spPr>
          <a:xfrm>
            <a:off x="1993392" y="4001294"/>
            <a:ext cx="8348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ED99472-BD00-0FA3-A5FD-147DD144D2E4}"/>
              </a:ext>
            </a:extLst>
          </p:cNvPr>
          <p:cNvSpPr txBox="1"/>
          <p:nvPr/>
        </p:nvSpPr>
        <p:spPr>
          <a:xfrm>
            <a:off x="7999481" y="4008866"/>
            <a:ext cx="24460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High AI-driven Capability 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F44676-9A00-E55E-0EC5-55499676CBB0}"/>
              </a:ext>
            </a:extLst>
          </p:cNvPr>
          <p:cNvSpPr txBox="1"/>
          <p:nvPr/>
        </p:nvSpPr>
        <p:spPr>
          <a:xfrm>
            <a:off x="4208526" y="1690688"/>
            <a:ext cx="2036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↑ Target Audience:</a:t>
            </a:r>
          </a:p>
          <a:p>
            <a:r>
              <a:rPr lang="en-IN" sz="1600" dirty="0"/>
              <a:t>    Large Enterprises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F03627-AEB3-B972-77FA-E3A4B3F37060}"/>
              </a:ext>
            </a:extLst>
          </p:cNvPr>
          <p:cNvSpPr/>
          <p:nvPr/>
        </p:nvSpPr>
        <p:spPr>
          <a:xfrm>
            <a:off x="8331715" y="4897957"/>
            <a:ext cx="1142995" cy="1124695"/>
          </a:xfrm>
          <a:prstGeom prst="ellipse">
            <a:avLst/>
          </a:prstGeom>
          <a:solidFill>
            <a:srgbClr val="E91E6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Hiring Heat-Map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942690-BDE2-A0A0-AC45-54E20C75B899}"/>
              </a:ext>
            </a:extLst>
          </p:cNvPr>
          <p:cNvSpPr/>
          <p:nvPr/>
        </p:nvSpPr>
        <p:spPr>
          <a:xfrm>
            <a:off x="8331716" y="3542768"/>
            <a:ext cx="1142995" cy="1124695"/>
          </a:xfrm>
          <a:prstGeom prst="ellipse">
            <a:avLst/>
          </a:prstGeom>
          <a:solidFill>
            <a:srgbClr val="FFC107">
              <a:alpha val="5098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FF9181E-FE9C-FA89-AA55-274E310BF942}"/>
              </a:ext>
            </a:extLst>
          </p:cNvPr>
          <p:cNvSpPr/>
          <p:nvPr/>
        </p:nvSpPr>
        <p:spPr>
          <a:xfrm>
            <a:off x="8331716" y="2187579"/>
            <a:ext cx="1142995" cy="1124695"/>
          </a:xfrm>
          <a:prstGeom prst="ellipse">
            <a:avLst/>
          </a:prstGeom>
          <a:solidFill>
            <a:srgbClr val="4CAF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642A54-7156-2FEF-6502-86FEE7C9C778}"/>
              </a:ext>
            </a:extLst>
          </p:cNvPr>
          <p:cNvSpPr/>
          <p:nvPr/>
        </p:nvSpPr>
        <p:spPr>
          <a:xfrm>
            <a:off x="2717289" y="2199123"/>
            <a:ext cx="1142995" cy="1124695"/>
          </a:xfrm>
          <a:prstGeom prst="ellipse">
            <a:avLst/>
          </a:prstGeom>
          <a:solidFill>
            <a:srgbClr val="2196F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LinkedIn Talent Insights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D36216-94FC-BEE3-2101-58A926DC3A72}"/>
              </a:ext>
            </a:extLst>
          </p:cNvPr>
          <p:cNvSpPr txBox="1"/>
          <p:nvPr/>
        </p:nvSpPr>
        <p:spPr>
          <a:xfrm>
            <a:off x="4185666" y="6119773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Startups / SMBs 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D2824-4DC2-E91C-855F-3DC9D517CBAC}"/>
              </a:ext>
            </a:extLst>
          </p:cNvPr>
          <p:cNvSpPr txBox="1"/>
          <p:nvPr/>
        </p:nvSpPr>
        <p:spPr>
          <a:xfrm>
            <a:off x="1895360" y="4001294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← Low AI-driven Capability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036F69-306C-E554-A7ED-5B25D1B85828}"/>
              </a:ext>
            </a:extLst>
          </p:cNvPr>
          <p:cNvSpPr txBox="1"/>
          <p:nvPr/>
        </p:nvSpPr>
        <p:spPr>
          <a:xfrm>
            <a:off x="8399228" y="2607581"/>
            <a:ext cx="1007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Eightfold.ai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975222-8291-CE3F-D4E1-05E76547DFD4}"/>
              </a:ext>
            </a:extLst>
          </p:cNvPr>
          <p:cNvSpPr txBox="1"/>
          <p:nvPr/>
        </p:nvSpPr>
        <p:spPr>
          <a:xfrm>
            <a:off x="8491778" y="3712908"/>
            <a:ext cx="944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SeekOut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944A6A-6B24-632D-20F3-5C14D83215D0}"/>
              </a:ext>
            </a:extLst>
          </p:cNvPr>
          <p:cNvSpPr txBox="1"/>
          <p:nvPr/>
        </p:nvSpPr>
        <p:spPr>
          <a:xfrm>
            <a:off x="1604770" y="4868830"/>
            <a:ext cx="43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</a:rPr>
              <a:t>White space exists for startup-focused, real-time hiring intelligence</a:t>
            </a:r>
            <a:endParaRPr lang="en-IN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54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636A-A449-969A-6F48-AD9C6362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Opportunities &amp;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8E620-CDC7-F122-83C6-B9A77D7E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✅</a:t>
            </a:r>
            <a:r>
              <a:rPr lang="en-US" sz="2400" dirty="0"/>
              <a:t>Growing HR analytics market (CAGR ~14%).</a:t>
            </a:r>
          </a:p>
          <a:p>
            <a:pPr marL="0" indent="0">
              <a:buNone/>
            </a:pPr>
            <a:r>
              <a:rPr lang="en-IN" sz="2400" dirty="0"/>
              <a:t>✅</a:t>
            </a:r>
            <a:r>
              <a:rPr lang="en-US" sz="2400" dirty="0"/>
              <a:t>Lack of competitor-focused real-time insights.</a:t>
            </a:r>
          </a:p>
          <a:p>
            <a:pPr marL="0" indent="0">
              <a:buNone/>
            </a:pPr>
            <a:r>
              <a:rPr lang="en-IN" sz="2400" dirty="0"/>
              <a:t>✅</a:t>
            </a:r>
            <a:r>
              <a:rPr lang="en-US" sz="2400" dirty="0"/>
              <a:t>Investor demand for talent intelligence signals.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⚠️</a:t>
            </a:r>
            <a:r>
              <a:rPr lang="en-US" sz="2400" dirty="0"/>
              <a:t>Strong incumbents (LinkedIn, Eightfold).</a:t>
            </a:r>
          </a:p>
          <a:p>
            <a:pPr marL="0" indent="0">
              <a:buNone/>
            </a:pPr>
            <a:r>
              <a:rPr lang="en-IN" sz="2400" dirty="0"/>
              <a:t>⚠️</a:t>
            </a:r>
            <a:r>
              <a:rPr lang="en-US" sz="2400" dirty="0"/>
              <a:t>Opaque enterprise pricing → tough entry.</a:t>
            </a:r>
          </a:p>
          <a:p>
            <a:pPr marL="0" indent="0">
              <a:buNone/>
            </a:pPr>
            <a:r>
              <a:rPr lang="en-IN" sz="2400" dirty="0"/>
              <a:t>⚠️</a:t>
            </a:r>
            <a:r>
              <a:rPr lang="en-US" sz="2400" dirty="0"/>
              <a:t>Long sales cycles for HR analytics tools.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95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92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244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Market Intelligence Executive Summary</vt:lpstr>
      <vt:lpstr>Market Sizing (TAM / SAM / SOM)</vt:lpstr>
      <vt:lpstr>Feature Matrix</vt:lpstr>
      <vt:lpstr>Competitor Pricing</vt:lpstr>
      <vt:lpstr>Market Position</vt:lpstr>
      <vt:lpstr>Opportunities &amp; Threats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 V</dc:creator>
  <cp:lastModifiedBy>Pavan R V</cp:lastModifiedBy>
  <cp:revision>15</cp:revision>
  <dcterms:created xsi:type="dcterms:W3CDTF">2025-09-30T04:12:57Z</dcterms:created>
  <dcterms:modified xsi:type="dcterms:W3CDTF">2025-10-02T13:14:48Z</dcterms:modified>
</cp:coreProperties>
</file>